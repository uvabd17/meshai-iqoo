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tech_illustration_scene_a_dark_na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48640"/>
            <a:ext cx="6675120" cy="5532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3035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0D6E8">
              <a:alpha val="12000"/>
            </a:srgbClr>
          </a:solidFill>
          <a:ln w="10160">
            <a:solidFill>
              <a:srgbClr val="20D6E8">
                <a:alpha val="8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4088" y="598932"/>
            <a:ext cx="2157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0D6E8"/>
                </a:solidFill>
              </a:rPr>
              <a:t>iQOO Hackathon 2026 • Submission Deck</a:t>
            </a:r>
            <a:endParaRPr lang="en-US" sz="710" dirty="0"/>
          </a:p>
        </p:txBody>
      </p:sp>
      <p:sp>
        <p:nvSpPr>
          <p:cNvPr id="5" name="Text 2"/>
          <p:cNvSpPr/>
          <p:nvPr/>
        </p:nvSpPr>
        <p:spPr>
          <a:xfrm>
            <a:off x="594360" y="12070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MeshAI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21792" y="1901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D6E8"/>
                </a:solidFill>
              </a:rPr>
              <a:t>Adaptive Local AI Compute Mesh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1792" y="24688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9B5CA"/>
                </a:solidFill>
              </a:rPr>
              <a:t>Turn nearby phones and laptops into one private AI machine that can run local workloads no single device can handle alone.</a:t>
            </a:r>
            <a:endParaRPr lang="en-US" sz="1380" dirty="0"/>
          </a:p>
        </p:txBody>
      </p:sp>
      <p:sp>
        <p:nvSpPr>
          <p:cNvPr id="8" name="Shape 5"/>
          <p:cNvSpPr/>
          <p:nvPr/>
        </p:nvSpPr>
        <p:spPr>
          <a:xfrm>
            <a:off x="621792" y="4023360"/>
            <a:ext cx="960120" cy="676656"/>
          </a:xfrm>
          <a:prstGeom prst="roundRect">
            <a:avLst>
              <a:gd name="adj" fmla="val 16216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1330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D6E8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425696"/>
            <a:ext cx="740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5CA"/>
                </a:solidFill>
              </a:rPr>
              <a:t>core modes</a:t>
            </a:r>
            <a:endParaRPr lang="en-US" sz="640" dirty="0"/>
          </a:p>
        </p:txBody>
      </p:sp>
      <p:sp>
        <p:nvSpPr>
          <p:cNvPr id="11" name="Shape 8"/>
          <p:cNvSpPr/>
          <p:nvPr/>
        </p:nvSpPr>
        <p:spPr>
          <a:xfrm>
            <a:off x="1737360" y="4023360"/>
            <a:ext cx="1463040" cy="676656"/>
          </a:xfrm>
          <a:prstGeom prst="roundRect">
            <a:avLst>
              <a:gd name="adj" fmla="val 16216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0" y="4133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phone + laptop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847088" y="4425696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5CA"/>
                </a:solidFill>
              </a:rPr>
              <a:t>target nodes</a:t>
            </a:r>
            <a:endParaRPr lang="en-US" sz="640" dirty="0"/>
          </a:p>
        </p:txBody>
      </p:sp>
      <p:sp>
        <p:nvSpPr>
          <p:cNvPr id="14" name="Shape 11"/>
          <p:cNvSpPr/>
          <p:nvPr/>
        </p:nvSpPr>
        <p:spPr>
          <a:xfrm>
            <a:off x="3401568" y="4023360"/>
            <a:ext cx="960120" cy="676656"/>
          </a:xfrm>
          <a:prstGeom prst="roundRect">
            <a:avLst>
              <a:gd name="adj" fmla="val 16216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93008" y="41330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986"/>
                </a:solidFill>
              </a:rPr>
              <a:t>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11296" y="4425696"/>
            <a:ext cx="740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5CA"/>
                </a:solidFill>
              </a:rPr>
              <a:t>cloud needed</a:t>
            </a:r>
            <a:endParaRPr lang="en-US" sz="640" dirty="0"/>
          </a:p>
        </p:txBody>
      </p:sp>
      <p:sp>
        <p:nvSpPr>
          <p:cNvPr id="17" name="Text 14"/>
          <p:cNvSpPr/>
          <p:nvPr/>
        </p:nvSpPr>
        <p:spPr>
          <a:xfrm>
            <a:off x="621792" y="5193792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3829B"/>
                </a:solidFill>
              </a:rPr>
              <a:t>Thesis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261872" y="5157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5F7FB"/>
                </a:solidFill>
              </a:rPr>
              <a:t>Unused local devices become an adaptive, privacy-preserving AI compute pool.</a:t>
            </a:r>
            <a:endParaRPr lang="en-US" sz="1170" dirty="0"/>
          </a:p>
        </p:txBody>
      </p:sp>
      <p:sp>
        <p:nvSpPr>
          <p:cNvPr id="19" name="Text 16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0" name="Text 17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Every form field maps to one coherent product story.</a:t>
            </a:r>
            <a:endParaRPr lang="en-US" sz="1020" dirty="0"/>
          </a:p>
        </p:txBody>
      </p:sp>
      <p:pic>
        <p:nvPicPr>
          <p:cNvPr id="4" name="Image 0" descr="/mnt/data/a_sleek_moody_high_end_tech_desktop_scene_cinem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20624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07008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3258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0D6E8"/>
                </a:solidFill>
              </a:rPr>
              <a:t>Idea Title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2578608" y="12984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B"/>
                </a:solidFill>
              </a:rPr>
              <a:t>MeshAI — Adaptive Local AI Compute Mesh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640080" y="1883664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0025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5CF6"/>
                </a:solidFill>
              </a:rPr>
              <a:t>Description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2578608" y="19751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B"/>
                </a:solidFill>
              </a:rPr>
              <a:t>Local AI runtime that discovers nearby Android phones/laptops, profiles hardware state, and schedules workloads across them as one private mesh.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6791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0D6E8"/>
                </a:solidFill>
              </a:rPr>
              <a:t>Video Walkthrough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2578608" y="26517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B"/>
                </a:solidFill>
              </a:rPr>
              <a:t>2–3 minute unlisted walkthrough after prototype validation.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640080" y="3236976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3558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5CF6"/>
                </a:solidFill>
              </a:rPr>
              <a:t>Prototype URL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2578608" y="3328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B"/>
                </a:solidFill>
              </a:rPr>
              <a:t>GitHub/demo link after laptop↔Android proof.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40080" y="3913632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403250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0D6E8"/>
                </a:solidFill>
              </a:rPr>
              <a:t>Deck/Document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2578608" y="4005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B"/>
                </a:solidFill>
              </a:rPr>
              <a:t>This deck plus the generated overview document.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640080" y="4590288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" y="47091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5CF6"/>
                </a:solidFill>
              </a:rPr>
              <a:t>Claim Discipline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2578608" y="46817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B"/>
                </a:solidFill>
              </a:rPr>
              <a:t>Benchmark first; no exact model-size claim until measured.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7315200" y="438912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45994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B"/>
                </a:solidFill>
              </a:rPr>
              <a:t>Submission stance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680960" y="4983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Use proven inference primitives; build the missing Android+laptop orchestration layer.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7" name="Text 24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AI compute is fragmented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Local AI is limited by the weakest single device even when more hardware is nearby.</a:t>
            </a:r>
            <a:endParaRPr lang="en-US" sz="1020" dirty="0"/>
          </a:p>
        </p:txBody>
      </p:sp>
      <p:pic>
        <p:nvPicPr>
          <p:cNvPr id="4" name="Image 0" descr="/mnt/data/a_dark_futuristic_cyber_security_themed_illustra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484632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325880"/>
            <a:ext cx="5257800" cy="713232"/>
          </a:xfrm>
          <a:prstGeom prst="roundRect">
            <a:avLst>
              <a:gd name="adj" fmla="val 15385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4904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D6E8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4538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One-device ceiling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46120" y="14356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Local models hit RAM/VRAM limits quickly.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731520" y="2377440"/>
            <a:ext cx="5257800" cy="713232"/>
          </a:xfrm>
          <a:prstGeom prst="roundRect">
            <a:avLst>
              <a:gd name="adj" fmla="val 15385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5420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2505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Cloud dependency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46120" y="24871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Fast, but code, files and prompts leave the user environment.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731520" y="3429000"/>
            <a:ext cx="5257800" cy="713232"/>
          </a:xfrm>
          <a:prstGeom prst="roundRect">
            <a:avLst>
              <a:gd name="adj" fmla="val 15385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5935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986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17320" y="3557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Idle hardware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46120" y="3538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Phones sit beside laptops while AI workloads need memory.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731520" y="4480560"/>
            <a:ext cx="5257800" cy="713232"/>
          </a:xfrm>
          <a:prstGeom prst="roundRect">
            <a:avLst>
              <a:gd name="adj" fmla="val 15385"/>
            </a:avLst>
          </a:prstGeom>
          <a:solidFill>
            <a:srgbClr val="0C1422"/>
          </a:solidFill>
          <a:ln w="12700">
            <a:solidFill>
              <a:srgbClr val="F6B544">
                <a:alpha val="8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6451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544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608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Manual tooling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46120" y="45902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Existing stacks require CLI, IPs, flags and tuning.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822960" y="57607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F7FB"/>
                </a:solidFill>
              </a:rPr>
              <a:t>The gap: make local AI capacity elastic without forcing a GPU purchase or a cloud dependency.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an adaptive local mesh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MeshAI turns nearby devices into a private AI pool and exposes one local endpoint.</a:t>
            </a:r>
            <a:endParaRPr lang="en-US" sz="1020" dirty="0"/>
          </a:p>
        </p:txBody>
      </p:sp>
      <p:pic>
        <p:nvPicPr>
          <p:cNvPr id="4" name="Image 0" descr="/mnt/data/wide_cinematic_tech_illustration_scene_a_dark_na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49377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801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D6E8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1792" y="1216152"/>
            <a:ext cx="457200" cy="457200"/>
          </a:xfrm>
          <a:prstGeom prst="arc">
            <a:avLst/>
          </a:prstGeom>
          <a:noFill/>
          <a:ln w="15240">
            <a:solidFill>
              <a:srgbClr val="20D6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34440" y="1234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B"/>
                </a:solidFill>
              </a:rPr>
              <a:t>Discover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670048" y="12435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9B5CA"/>
                </a:solidFill>
              </a:rPr>
              <a:t>nearby phones, laptops and desktops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D6E8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" y="2176272"/>
            <a:ext cx="457200" cy="457200"/>
          </a:xfrm>
          <a:prstGeom prst="arc">
            <a:avLst/>
          </a:prstGeom>
          <a:noFill/>
          <a:ln w="15240">
            <a:solidFill>
              <a:srgbClr val="20D6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2194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B"/>
                </a:solidFill>
              </a:rPr>
              <a:t>Profile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670048" y="22037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9B5CA"/>
                </a:solidFill>
              </a:rPr>
              <a:t>RAM, CPU/GPU/NPU, network, battery and temperature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D6E8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" y="3136392"/>
            <a:ext cx="457200" cy="457200"/>
          </a:xfrm>
          <a:prstGeom prst="arc">
            <a:avLst/>
          </a:prstGeom>
          <a:noFill/>
          <a:ln w="15240">
            <a:solidFill>
              <a:srgbClr val="20D6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31546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B"/>
                </a:solidFill>
              </a:rPr>
              <a:t>Schedule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670048" y="31638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9B5CA"/>
                </a:solidFill>
              </a:rPr>
              <a:t>choose layer split, parallel tasks or future MoE sharding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731520" y="41605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D6E8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" y="4096512"/>
            <a:ext cx="457200" cy="457200"/>
          </a:xfrm>
          <a:prstGeom prst="arc">
            <a:avLst/>
          </a:prstGeom>
          <a:noFill/>
          <a:ln w="15240">
            <a:solidFill>
              <a:srgbClr val="20D6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4114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B"/>
                </a:solidFill>
              </a:rPr>
              <a:t>Expose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670048" y="412394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9B5CA"/>
                </a:solidFill>
              </a:rPr>
              <a:t>one local OpenAI-compatible API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713232" y="5532120"/>
            <a:ext cx="10515600" cy="502920"/>
          </a:xfrm>
          <a:prstGeom prst="roundRect">
            <a:avLst>
              <a:gd name="adj" fmla="val 25455"/>
            </a:avLst>
          </a:prstGeom>
          <a:solidFill>
            <a:srgbClr val="0A1A2E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571500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F5F7FB"/>
                </a:solidFill>
              </a:rPr>
              <a:t>User result: laptop alone runs a smaller model; with phones, larger model, better quantization or bigger context becomes possible — offline.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4" name="Text 21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Coordinator controls the mesh; workers execute model shards or independent jobs.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4160520" y="1143000"/>
            <a:ext cx="3840480" cy="731520"/>
          </a:xfrm>
          <a:prstGeom prst="roundRect">
            <a:avLst>
              <a:gd name="adj" fmla="val 15000"/>
            </a:avLst>
          </a:prstGeom>
          <a:solidFill>
            <a:srgbClr val="0B1423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25112" y="128016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Mesh Coordinator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4343400" y="1581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discovery • profiler • scheduler • local API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0B1423"/>
          </a:solidFill>
          <a:ln w="12700">
            <a:solidFill>
              <a:srgbClr val="3B82F6">
                <a:alpha val="8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971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Laptop Node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14400" y="3273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CPU/iGPU • repo/files • coordinator candidate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2834640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0B1423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2971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Android Phone A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892040" y="3273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RAM • Adreno GPU • thermal/battery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41080" y="2834640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0B1423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2971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Android Phone B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823960" y="3273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RAM • CPU/GPU/NPU candidate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80760" y="1874520"/>
            <a:ext cx="-3977640" cy="9601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1874520"/>
            <a:ext cx="0" cy="960120"/>
          </a:xfrm>
          <a:prstGeom prst="line">
            <a:avLst/>
          </a:prstGeom>
          <a:noFill/>
          <a:ln w="12700">
            <a:solidFill>
              <a:srgbClr val="20D6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1874520"/>
            <a:ext cx="3931920" cy="96012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" y="4736592"/>
            <a:ext cx="2788920" cy="749808"/>
          </a:xfrm>
          <a:prstGeom prst="roundRect">
            <a:avLst>
              <a:gd name="adj" fmla="val 14634"/>
            </a:avLst>
          </a:prstGeom>
          <a:solidFill>
            <a:srgbClr val="0B1423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873752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Layer Split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188720" y="51755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single large model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90872" y="4736592"/>
            <a:ext cx="2788920" cy="749808"/>
          </a:xfrm>
          <a:prstGeom prst="roundRect">
            <a:avLst>
              <a:gd name="adj" fmla="val 14634"/>
            </a:avLst>
          </a:prstGeom>
          <a:solidFill>
            <a:srgbClr val="0B1423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4873752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Parallel Jobs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873752" y="51755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many independent tasks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366760" y="4736592"/>
            <a:ext cx="2788920" cy="749808"/>
          </a:xfrm>
          <a:prstGeom prst="roundRect">
            <a:avLst>
              <a:gd name="adj" fmla="val 14634"/>
            </a:avLst>
          </a:prstGeom>
          <a:solidFill>
            <a:srgbClr val="0B1423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1352" y="4873752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MoE Sharding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8549640" y="51755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future expert routing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3547872"/>
            <a:ext cx="-3685032" cy="1188720"/>
          </a:xfrm>
          <a:prstGeom prst="line">
            <a:avLst/>
          </a:prstGeom>
          <a:noFill/>
          <a:ln w="11430">
            <a:solidFill>
              <a:srgbClr val="20D6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80760" y="3547872"/>
            <a:ext cx="0" cy="1188720"/>
          </a:xfrm>
          <a:prstGeom prst="line">
            <a:avLst/>
          </a:prstGeom>
          <a:noFill/>
          <a:ln w="11430">
            <a:solidFill>
              <a:srgbClr val="30D98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3547872"/>
            <a:ext cx="3703320" cy="1188720"/>
          </a:xfrm>
          <a:prstGeom prst="line">
            <a:avLst/>
          </a:prstGeom>
          <a:noFill/>
          <a:ln w="1143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017520" y="5961888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F7FB"/>
                </a:solidFill>
              </a:rPr>
              <a:t>Output endpoint: localhost:8080/v1/chat/completions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 scheduler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Not every workload should be split the same way.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46120" cy="4251960"/>
          </a:xfrm>
          <a:prstGeom prst="roundRect">
            <a:avLst>
              <a:gd name="adj" fmla="val 5070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D6E8"/>
                </a:solidFill>
              </a:rPr>
              <a:t>Layer split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13969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Single model too large for one device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87552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Weights/KV stay on assigned devices; activations move across boundaries.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1188720" y="3840480"/>
            <a:ext cx="2148840" cy="0"/>
          </a:xfrm>
          <a:prstGeom prst="line">
            <a:avLst/>
          </a:prstGeom>
          <a:noFill/>
          <a:ln w="12700">
            <a:solidFill>
              <a:srgbClr val="20D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1605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5F7FB"/>
                </a:solidFill>
              </a:rPr>
              <a:t>Best first path for dense large models.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246120" cy="4251960"/>
          </a:xfrm>
          <a:prstGeom prst="roundRect">
            <a:avLst>
              <a:gd name="adj" fmla="val 5070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0D986"/>
                </a:solidFill>
              </a:rPr>
              <a:t>Parallel jobs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213969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Many independent tasks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82312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Each device runs a full job or smaller model, then returns results.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983480" y="3840480"/>
            <a:ext cx="2148840" cy="0"/>
          </a:xfrm>
          <a:prstGeom prst="line">
            <a:avLst/>
          </a:prstGeom>
          <a:noFill/>
          <a:ln w="12700">
            <a:solidFill>
              <a:srgbClr val="30D9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41605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5F7FB"/>
                </a:solidFill>
              </a:rPr>
              <a:t>Best for coding agents, embeddings and batch tasks.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29600" y="1325880"/>
            <a:ext cx="3246120" cy="4251960"/>
          </a:xfrm>
          <a:prstGeom prst="roundRect">
            <a:avLst>
              <a:gd name="adj" fmla="val 5070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5CF6"/>
                </a:solidFill>
              </a:rPr>
              <a:t>MoE sharding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213969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Future expert routing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77072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Devices host different experts; only selected experts compute per token.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778240" y="3840480"/>
            <a:ext cx="21488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41605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5F7FB"/>
                </a:solidFill>
              </a:rPr>
              <a:t>Promising for MoE coding models.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143000" y="598932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B"/>
                </a:solidFill>
              </a:rPr>
              <a:t>Core rule: use the best subset of devices — a slow/hot phone should be ignored if it makes the mesh slower.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split: what actually moves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Weights remain resident; only boundary activations and control messages cross devices.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0B1423"/>
          </a:solidFill>
          <a:ln w="12700">
            <a:solidFill>
              <a:srgbClr val="3B82F6">
                <a:alpha val="8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288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Laptop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layers 0–15 • KV cache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864608" y="169164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0B1423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288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Phone A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47488" y="2130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layers 16–31 • KV cache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06840" y="169164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0B1423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71432" y="18288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Phone B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189720" y="2130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layers 32–47 • KV cache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54680" y="2084832"/>
            <a:ext cx="1709928" cy="0"/>
          </a:xfrm>
          <a:prstGeom prst="line">
            <a:avLst/>
          </a:prstGeom>
          <a:noFill/>
          <a:ln w="16510">
            <a:solidFill>
              <a:srgbClr val="20D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87768" y="2084832"/>
            <a:ext cx="1719072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401568" y="18562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0D6E8"/>
                </a:solidFill>
              </a:rPr>
              <a:t>activation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552944" y="18562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5CF6"/>
                </a:solidFill>
              </a:rPr>
              <a:t>activation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B82F6"/>
                </a:solidFill>
              </a:rPr>
              <a:t>Transformer chain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2286000" y="3685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Layer N output becomes Layer N+1 input; devices preserve order.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263640" y="37033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0D6E8"/>
                </a:solidFill>
              </a:rPr>
              <a:t>Weights stay local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7772400" y="3685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The model shard is cached on each worker, not resent every token.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8B5CF6"/>
                </a:solidFill>
              </a:rPr>
              <a:t>KV cache stays local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2286000" y="4553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Each device keeps cache for layers it owns, reducing traffic.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0D986"/>
                </a:solidFill>
              </a:rPr>
              <a:t>Prefill vs decode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7772400" y="4553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5CA"/>
                </a:solidFill>
              </a:rPr>
              <a:t>Prompt processing is bandwidth-heavy; generation is latency-sensitive.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22960" y="5669280"/>
            <a:ext cx="10469880" cy="438912"/>
          </a:xfrm>
          <a:prstGeom prst="roundRect">
            <a:avLst>
              <a:gd name="adj" fmla="val 29167"/>
            </a:avLst>
          </a:prstGeom>
          <a:solidFill>
            <a:srgbClr val="0A1A2E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824728"/>
            <a:ext cx="10104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5F7FB"/>
                </a:solidFill>
              </a:rPr>
              <a:t>Why this matters: layer split usually tolerates phone/laptop links better than tensor parallelism because it minimizes synchronization.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Mobile-aware scheduler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The differentiator is deciding when a phone helps — and when it hurts.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4434840" y="1143000"/>
            <a:ext cx="3429000" cy="713232"/>
          </a:xfrm>
          <a:prstGeom prst="roundRect">
            <a:avLst>
              <a:gd name="adj" fmla="val 15385"/>
            </a:avLst>
          </a:prstGeom>
          <a:solidFill>
            <a:srgbClr val="0B1423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99432" y="1280160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Scheduler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4617720" y="15819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selects mode + device subset + placement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0B1423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5603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Memory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51560" y="28620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usable RAM / shard capacity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2423160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0B1423"/>
          </a:solidFill>
          <a:ln w="12700">
            <a:solidFill>
              <a:srgbClr val="3B82F6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25603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Compute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0" y="28620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CPU, GPU, NPU benchmark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732520" y="2423160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0B1423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25603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Network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915400" y="28620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latency, bandwidth, jitter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0" y="4206240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0B1423"/>
          </a:solidFill>
          <a:ln w="12700">
            <a:solidFill>
              <a:srgbClr val="F6B544">
                <a:alpha val="8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43434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Thermal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743200" y="46451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headroom, throttling risk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20840" y="4206240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0B1423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43434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Battery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903720" y="46451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5CA"/>
                </a:solidFill>
              </a:rPr>
              <a:t>charge level + plugged-in policy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5715000"/>
            <a:ext cx="10652760" cy="457200"/>
          </a:xfrm>
          <a:prstGeom prst="roundRect">
            <a:avLst>
              <a:gd name="adj" fmla="val 28000"/>
            </a:avLst>
          </a:prstGeom>
          <a:solidFill>
            <a:srgbClr val="0A1A2E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870448"/>
            <a:ext cx="1014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5F7FB"/>
                </a:solidFill>
              </a:rPr>
              <a:t>Example policy: fast iQOO + charging + cool → many layers. Old hot phone + weak network → reject or assign only independent jobs.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work vs. MeshAI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We reuse proven primitives and build the missing product layer.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990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D6E8"/>
                </a:solidFill>
              </a:rPr>
              <a:t>llama.cpp RPC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Remote devices, model/KV distribution, server ecosystem.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5F7FB"/>
                </a:solidFill>
              </a:rPr>
              <a:t>Pairing, security wrapper, Android packaging, benchmark-driven scheduling.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990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B5CF6"/>
                </a:solidFill>
              </a:rPr>
              <a:t>Exo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Strong local cluster UX and automatic scheduling philosophy.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5F7FB"/>
                </a:solidFill>
              </a:rPr>
              <a:t>Android + laptop focus with mobile battery/thermal policy.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192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30D986"/>
                </a:solidFill>
              </a:rPr>
              <a:t>AI Doomsday Toolbox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Android distributed llama.cpp proof point.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5F7FB"/>
                </a:solidFill>
              </a:rPr>
              <a:t>Cross-platform professional orchestration, not manual experimentation.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0C1422"/>
          </a:solidFill>
          <a:ln w="12700">
            <a:solidFill>
              <a:srgbClr val="F6B544">
                <a:alpha val="8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192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B544"/>
                </a:solidFill>
              </a:rPr>
              <a:t>Synapse / Meshlit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9B5CA"/>
                </a:solidFill>
              </a:rPr>
              <a:t>Phone/browser sharding ideas and data/MoE parallelism direction.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400800" y="4023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5F7FB"/>
                </a:solidFill>
              </a:rPr>
              <a:t>AUTO mode choosing layer split, parallel agents, or future MoE.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960120" y="585216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Positioning: not a new inference algorithm — a heterogeneous Android + laptop AI compute orchestrator.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validation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Benchmark first; then write exact model-size claims.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749808" y="1307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D6E8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161288"/>
            <a:ext cx="9738360" cy="731520"/>
          </a:xfrm>
          <a:prstGeom prst="roundRect">
            <a:avLst>
              <a:gd name="adj" fmla="val 15000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6464" y="12801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Kill test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1271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5CA"/>
                </a:solidFill>
              </a:rPr>
              <a:t>Laptop + Android phone run different layers of the same 1.5B/3B model.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726680" y="12710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D6E8"/>
                </a:solidFill>
              </a:rPr>
              <a:t>phone genuinely participates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49808" y="23865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240280"/>
            <a:ext cx="9738360" cy="731520"/>
          </a:xfrm>
          <a:prstGeom prst="roundRect">
            <a:avLst>
              <a:gd name="adj" fmla="val 15000"/>
            </a:avLst>
          </a:prstGeom>
          <a:solidFill>
            <a:srgbClr val="0C1422"/>
          </a:solidFill>
          <a:ln w="12700">
            <a:solidFill>
              <a:srgbClr val="3B82F6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2359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Backend test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34640" y="23500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5CA"/>
                </a:solidFill>
              </a:rPr>
              <a:t>CPU vs Adreno GPU vs Hexagon NPU candidate through Android worker.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7726680" y="2350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82F6"/>
                </a:solidFill>
              </a:rPr>
              <a:t>select reliable path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49808" y="34655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3319272"/>
            <a:ext cx="9738360" cy="731520"/>
          </a:xfrm>
          <a:prstGeom prst="roundRect">
            <a:avLst>
              <a:gd name="adj" fmla="val 15000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6464" y="34381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Scale test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3429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5CA"/>
                </a:solidFill>
              </a:rPr>
              <a:t>Add second phone; compare laptop-only vs mesh on 7B/14B/30B-class workloads.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726680" y="3429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8B5CF6"/>
                </a:solidFill>
              </a:rPr>
              <a:t>measure whether pooling helps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749808" y="45445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986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88720" y="4398264"/>
            <a:ext cx="9738360" cy="731520"/>
          </a:xfrm>
          <a:prstGeom prst="roundRect">
            <a:avLst>
              <a:gd name="adj" fmla="val 15000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26464" y="45171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Product demo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4507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5CA"/>
                </a:solidFill>
              </a:rPr>
              <a:t>Dashboard, auto profiling, selected mode, local API, offline run.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726680" y="4507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0D986"/>
                </a:solidFill>
              </a:rPr>
              <a:t>form-ready prototype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31520" y="5650992"/>
            <a:ext cx="10561320" cy="475488"/>
          </a:xfrm>
          <a:prstGeom prst="roundRect">
            <a:avLst>
              <a:gd name="adj" fmla="val 26923"/>
            </a:avLst>
          </a:prstGeom>
          <a:solidFill>
            <a:srgbClr val="0A1A2E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815584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F7FB"/>
                </a:solidFill>
              </a:rPr>
              <a:t>Metrics: TTFT, tokens/sec, prompt tokens/sec, RAM, network MB/s, temperature, battery drain, failure/recovery behavior.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2–3 minute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The video should prove capability with the actual system, not just slides.</a:t>
            </a:r>
            <a:endParaRPr lang="en-US" sz="1020" dirty="0"/>
          </a:p>
        </p:txBody>
      </p:sp>
      <p:pic>
        <p:nvPicPr>
          <p:cNvPr id="4" name="Image 0" descr="/mnt/data/a_sleek_moody_high_end_tech_desktop_scene_cinem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325880"/>
            <a:ext cx="47548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2618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D6E8"/>
                </a:solidFill>
              </a:rPr>
              <a:t>0:00</a:t>
            </a:r>
            <a:endParaRPr lang="en-US" sz="780" dirty="0"/>
          </a:p>
        </p:txBody>
      </p:sp>
      <p:sp>
        <p:nvSpPr>
          <p:cNvPr id="6" name="Shape 3"/>
          <p:cNvSpPr/>
          <p:nvPr/>
        </p:nvSpPr>
        <p:spPr>
          <a:xfrm>
            <a:off x="1207008" y="1362456"/>
            <a:ext cx="411480" cy="0"/>
          </a:xfrm>
          <a:prstGeom prst="line">
            <a:avLst/>
          </a:prstGeom>
          <a:noFill/>
          <a:ln w="12700">
            <a:solidFill>
              <a:srgbClr val="2540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1234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5F7FB"/>
                </a:solidFill>
              </a:rPr>
              <a:t>Show laptop alone: smaller local model ceiling.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685800" y="1947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D6E8"/>
                </a:solidFill>
              </a:rPr>
              <a:t>0:25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1207008" y="2048256"/>
            <a:ext cx="411480" cy="0"/>
          </a:xfrm>
          <a:prstGeom prst="line">
            <a:avLst/>
          </a:prstGeom>
          <a:noFill/>
          <a:ln w="12700">
            <a:solidFill>
              <a:srgbClr val="2540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0" y="19202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5F7FB"/>
                </a:solidFill>
              </a:rPr>
              <a:t>Open MeshAI; discover two nearby phones.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685800" y="2633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D6E8"/>
                </a:solidFill>
              </a:rPr>
              <a:t>0:45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1207008" y="2734056"/>
            <a:ext cx="411480" cy="0"/>
          </a:xfrm>
          <a:prstGeom prst="line">
            <a:avLst/>
          </a:prstGeom>
          <a:noFill/>
          <a:ln w="12700">
            <a:solidFill>
              <a:srgbClr val="2540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0" y="2606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5F7FB"/>
                </a:solidFill>
              </a:rPr>
              <a:t>Benchmark RAM, compute, network, battery and temperature.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685800" y="33192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D6E8"/>
                </a:solidFill>
              </a:rPr>
              <a:t>1:15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1207008" y="3419856"/>
            <a:ext cx="411480" cy="0"/>
          </a:xfrm>
          <a:prstGeom prst="line">
            <a:avLst/>
          </a:prstGeom>
          <a:noFill/>
          <a:ln w="12700">
            <a:solidFill>
              <a:srgbClr val="2540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0" y="32918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5F7FB"/>
                </a:solidFill>
              </a:rPr>
              <a:t>Scheduler selects layer split or parallel agents.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685800" y="4005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D6E8"/>
                </a:solidFill>
              </a:rPr>
              <a:t>1:35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207008" y="4105656"/>
            <a:ext cx="411480" cy="0"/>
          </a:xfrm>
          <a:prstGeom prst="line">
            <a:avLst/>
          </a:prstGeom>
          <a:noFill/>
          <a:ln w="12700">
            <a:solidFill>
              <a:srgbClr val="2540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0" y="39776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5F7FB"/>
                </a:solidFill>
              </a:rPr>
              <a:t>Run a local coding/document task through the local API.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685800" y="46908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D6E8"/>
                </a:solidFill>
              </a:rPr>
              <a:t>2:10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1207008" y="4791456"/>
            <a:ext cx="411480" cy="0"/>
          </a:xfrm>
          <a:prstGeom prst="line">
            <a:avLst/>
          </a:prstGeom>
          <a:noFill/>
          <a:ln w="12700">
            <a:solidFill>
              <a:srgbClr val="2540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0" y="4663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5F7FB"/>
                </a:solidFill>
              </a:rPr>
              <a:t>Disable internet; inference continues locally.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6812280" y="4983480"/>
            <a:ext cx="4389120" cy="713232"/>
          </a:xfrm>
          <a:prstGeom prst="roundRect">
            <a:avLst>
              <a:gd name="adj" fmla="val 15385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40880" y="51846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3829B"/>
                </a:solidFill>
              </a:rPr>
              <a:t>Killer message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150608" y="5431536"/>
            <a:ext cx="3703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5F7FB"/>
                </a:solidFill>
              </a:rPr>
              <a:t>“The phones joined the computer — so local AI can do more.”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7" name="Text 24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fit and originality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5CA"/>
                </a:solidFill>
              </a:rPr>
              <a:t>Full-stack mobile + local AI + systems mindset.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937760" cy="1005840"/>
          </a:xfrm>
          <a:prstGeom prst="roundRect">
            <a:avLst>
              <a:gd name="adj" fmla="val 14545"/>
            </a:avLst>
          </a:prstGeom>
          <a:solidFill>
            <a:srgbClr val="0C1422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508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D6E8"/>
                </a:solidFill>
              </a:rPr>
              <a:t>Android proficiency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941832" y="18379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9B5CA"/>
                </a:solidFill>
              </a:rPr>
              <a:t>Flutter/Android apps, device permissions, native integration path, APK testing, networked mobile flows.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4937760" cy="1005840"/>
          </a:xfrm>
          <a:prstGeom prst="roundRect">
            <a:avLst>
              <a:gd name="adj" fmla="val 14545"/>
            </a:avLst>
          </a:prstGeom>
          <a:solidFill>
            <a:srgbClr val="0C1422"/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508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8B5CF6"/>
                </a:solidFill>
              </a:rPr>
              <a:t>LLM proficiency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565392" y="18379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9B5CA"/>
                </a:solidFill>
              </a:rPr>
              <a:t>Local LLM/GGUF research, llama.cpp ecosystem, tool APIs, RAG/agent workflows, voice/AI system design.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4937760" cy="1005840"/>
          </a:xfrm>
          <a:prstGeom prst="roundRect">
            <a:avLst>
              <a:gd name="adj" fmla="val 14545"/>
            </a:avLst>
          </a:prstGeom>
          <a:solidFill>
            <a:srgbClr val="0C1422"/>
          </a:solidFill>
          <a:ln w="12700">
            <a:solidFill>
              <a:srgbClr val="30D986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1729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30D986"/>
                </a:solidFill>
              </a:rPr>
              <a:t>Prior builds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41832" y="35021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9B5CA"/>
                </a:solidFill>
              </a:rPr>
              <a:t>AI calling SaaS, on-device fitness/pose concepts, medical app, finance app, backend/admin systems.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309360" y="2990088"/>
            <a:ext cx="4937760" cy="1005840"/>
          </a:xfrm>
          <a:prstGeom prst="roundRect">
            <a:avLst>
              <a:gd name="adj" fmla="val 14545"/>
            </a:avLst>
          </a:prstGeom>
          <a:solidFill>
            <a:srgbClr val="0C1422"/>
          </a:solidFill>
          <a:ln w="12700">
            <a:solidFill>
              <a:srgbClr val="F6B544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31729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B544"/>
                </a:solidFill>
              </a:rPr>
              <a:t>Standout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565392" y="35021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9B5CA"/>
                </a:solidFill>
              </a:rPr>
              <a:t>We are not building another API wrapper; we are attacking the systems layer under local AI.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5166360"/>
            <a:ext cx="10515600" cy="841248"/>
          </a:xfrm>
          <a:prstGeom prst="roundRect">
            <a:avLst>
              <a:gd name="adj" fmla="val 16304"/>
            </a:avLst>
          </a:prstGeom>
          <a:solidFill>
            <a:srgbClr val="0A1A2E"/>
          </a:solidFill>
          <a:ln w="12700">
            <a:solidFill>
              <a:srgbClr val="20D6E8">
                <a:alpha val="8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37667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73829B"/>
                </a:solidFill>
              </a:rPr>
              <a:t>Originality statement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423160" y="5340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</a:rPr>
              <a:t>We disclose pre-existing components such as llama.cpp RPC and focus our claim on Android+laptop orchestration, profiling, scheduling and productization.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170432" y="6153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D6E8"/>
                </a:solidFill>
              </a:rPr>
              <a:t>Next: run laptop↔Android proof, add benchmark numbers, then lock prototype + video URL for submission.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02920" y="65745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3829B"/>
                </a:solidFill>
              </a:rPr>
              <a:t>MeshAI • Adaptive Local AI Compute Mesh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11384280" y="6519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3829B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MeshAI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MeshAI Pitch Deck</dc:title>
  <dc:subject>Adaptive Local AI Compute Mesh</dc:subject>
  <dc:creator>OpenAI</dc:creator>
  <cp:lastModifiedBy>OpenAI</cp:lastModifiedBy>
  <cp:revision>1</cp:revision>
  <dcterms:created xsi:type="dcterms:W3CDTF">2026-09-21T21:50:57Z</dcterms:created>
  <dcterms:modified xsi:type="dcterms:W3CDTF">2026-09-21T21:50:57Z</dcterms:modified>
</cp:coreProperties>
</file>